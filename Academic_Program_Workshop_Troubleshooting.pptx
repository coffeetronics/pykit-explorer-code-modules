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1954" r:id="rId2"/>
    <p:sldId id="2147309396" r:id="rId3"/>
    <p:sldId id="2147309474" r:id="rId4"/>
    <p:sldId id="2147309475" r:id="rId5"/>
    <p:sldId id="2147309479" r:id="rId6"/>
    <p:sldId id="21473094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290B5-067C-484F-9AA7-4B80897C2D0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7EF54-BC61-4C9D-A849-69C457A5C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8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enter REPL:</a:t>
            </a:r>
          </a:p>
          <a:p>
            <a:r>
              <a:rPr lang="en-US"/>
              <a:t>Open Serial Monitor tab in lower pane</a:t>
            </a:r>
          </a:p>
          <a:p>
            <a:r>
              <a:rPr lang="en-US"/>
              <a:t>Connect to USB Serial Device (you may need to use Device Manager to find which COM port)</a:t>
            </a:r>
          </a:p>
          <a:p>
            <a:r>
              <a:rPr lang="en-US"/>
              <a:t>Send CTRL+C</a:t>
            </a:r>
          </a:p>
          <a:p>
            <a:r>
              <a:rPr lang="en-US"/>
              <a:t>Click on message field, press enter.</a:t>
            </a:r>
          </a:p>
          <a:p>
            <a:r>
              <a:rPr lang="en-US"/>
              <a:t>You should see prompt  &gt;&gt;&gt;</a:t>
            </a:r>
          </a:p>
          <a:p>
            <a:endParaRPr lang="en-US"/>
          </a:p>
          <a:p>
            <a:r>
              <a:rPr lang="en-US"/>
              <a:t>After implementing </a:t>
            </a:r>
            <a:r>
              <a:rPr lang="en-US" err="1"/>
              <a:t>erase_filesystem</a:t>
            </a:r>
            <a:r>
              <a:rPr lang="en-US"/>
              <a:t> solution, copy the files back to the CIRCUITPY drive.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8CB49-A7FB-5E4A-B599-DE21181351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564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AFE7-2FE5-2FEA-F95B-CC3A938D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DACF7-320D-A551-980D-F5BE8FEAC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CD104-8ECB-7A71-9DE7-58A25CB04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more troubleshooting issues and solutions, go to:</a:t>
            </a:r>
          </a:p>
          <a:p>
            <a:r>
              <a:rPr lang="en-US"/>
              <a:t>https://learn.adafruit.com/welcome-to-circuitpython/troubleshooting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929C3-4CA8-13F2-BCE7-39D704410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8CB49-A7FB-5E4A-B599-DE21181351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092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enter REPL:</a:t>
            </a:r>
          </a:p>
          <a:p>
            <a:r>
              <a:rPr lang="en-US"/>
              <a:t>Open Serial Monitor tab in lower pane</a:t>
            </a:r>
          </a:p>
          <a:p>
            <a:r>
              <a:rPr lang="en-US"/>
              <a:t>Connect to USB Serial Device (you may need to use Device Manager to find which COM port)</a:t>
            </a:r>
          </a:p>
          <a:p>
            <a:r>
              <a:rPr lang="en-US"/>
              <a:t>Send CTRL+C</a:t>
            </a:r>
          </a:p>
          <a:p>
            <a:r>
              <a:rPr lang="en-US"/>
              <a:t>Click on message field, press enter.</a:t>
            </a:r>
          </a:p>
          <a:p>
            <a:r>
              <a:rPr lang="en-US"/>
              <a:t>You should see prompt  &gt;&gt;&gt;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8CB49-A7FB-5E4A-B599-DE21181351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473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0376-ECAA-8722-E742-F70F0B4A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12161-D260-9D4D-93E2-0D1C66CC3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62C24-7EC8-F338-6985-D2CC174B5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enter REPL:</a:t>
            </a:r>
          </a:p>
          <a:p>
            <a:r>
              <a:rPr lang="en-US"/>
              <a:t>Open Serial Monitor tab in lower pane</a:t>
            </a:r>
          </a:p>
          <a:p>
            <a:r>
              <a:rPr lang="en-US"/>
              <a:t>Connect to USB Serial Device (you may need to use Device Manager to find which COM port)</a:t>
            </a:r>
          </a:p>
          <a:p>
            <a:r>
              <a:rPr lang="en-US"/>
              <a:t>Send CTRL+C</a:t>
            </a:r>
          </a:p>
          <a:p>
            <a:r>
              <a:rPr lang="en-US"/>
              <a:t>Click on message field, press enter.</a:t>
            </a:r>
          </a:p>
          <a:p>
            <a:r>
              <a:rPr lang="en-US"/>
              <a:t>You should see prompt  &gt;&gt;&gt;</a:t>
            </a:r>
          </a:p>
          <a:p>
            <a:endParaRPr lang="en-US"/>
          </a:p>
          <a:p>
            <a:r>
              <a:rPr lang="en-US"/>
              <a:t>After implementing </a:t>
            </a:r>
            <a:r>
              <a:rPr lang="en-US" err="1"/>
              <a:t>erase_filesystem</a:t>
            </a:r>
            <a:r>
              <a:rPr lang="en-US"/>
              <a:t> solution, copy the files back to the CIRCUITPY drive.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B3DCE-C0CE-CB1F-516F-A11D97CAA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8CB49-A7FB-5E4A-B599-DE21181351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89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456D-6767-948D-F2C1-A2510B90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37ECA-1743-8E29-797A-7EF8D0403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C5E8D-9413-1B61-5993-8EEA09A13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enter REPL:</a:t>
            </a:r>
          </a:p>
          <a:p>
            <a:r>
              <a:rPr lang="en-US"/>
              <a:t>Open Serial Monitor tab in lower pane</a:t>
            </a:r>
          </a:p>
          <a:p>
            <a:r>
              <a:rPr lang="en-US"/>
              <a:t>Connect to USB Serial Device (you may need to use Device Manager to find which COM port)</a:t>
            </a:r>
          </a:p>
          <a:p>
            <a:r>
              <a:rPr lang="en-US"/>
              <a:t>Send CTRL+C</a:t>
            </a:r>
          </a:p>
          <a:p>
            <a:r>
              <a:rPr lang="en-US"/>
              <a:t>Click on message field, press enter.</a:t>
            </a:r>
          </a:p>
          <a:p>
            <a:r>
              <a:rPr lang="en-US"/>
              <a:t>You should see prompt  &gt;&gt;&gt;</a:t>
            </a:r>
          </a:p>
          <a:p>
            <a:endParaRPr lang="en-US"/>
          </a:p>
          <a:p>
            <a:r>
              <a:rPr lang="en-US"/>
              <a:t>After implementing </a:t>
            </a:r>
            <a:r>
              <a:rPr lang="en-US" err="1"/>
              <a:t>erase_filesystem</a:t>
            </a:r>
            <a:r>
              <a:rPr lang="en-US"/>
              <a:t> solution, copy the files back to the CIRCUITPY drive.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9710F-4C88-F972-D397-EA7A08A5D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8CB49-A7FB-5E4A-B599-DE211813512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19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8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1495" y="2034289"/>
            <a:ext cx="791122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1495" y="3824301"/>
            <a:ext cx="791122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27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768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40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05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0"/>
            <a:ext cx="5507280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89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023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923076"/>
            <a:ext cx="5475995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561175"/>
            <a:ext cx="5475993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6"/>
            <a:ext cx="5389033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8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381005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988634"/>
            <a:ext cx="547599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091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29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2911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483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24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69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039092"/>
            <a:ext cx="1140363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3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854E-F0FA-DA43-9468-0509537A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Academic Program Workshop: Microchip PyKit Explorer</a:t>
            </a:r>
            <a:br>
              <a:rPr lang="en-US" dirty="0"/>
            </a:br>
            <a:r>
              <a:rPr lang="en-US" dirty="0"/>
              <a:t>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217652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4938-7D34-E6D2-315C-7184E8BE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43B5E-00C0-1279-7BF8-4C0C163FFC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Read Only File System Error When Saving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AC196-4277-8E85-FD80-816C1D177BA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90" y="1408545"/>
            <a:ext cx="11956647" cy="52719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student cannot save file and board gives Read Only File System error:</a:t>
            </a:r>
          </a:p>
          <a:p>
            <a:pPr lvl="1"/>
            <a:r>
              <a:rPr lang="en-US" b="1" u="sng" dirty="0">
                <a:solidFill>
                  <a:schemeClr val="accent4"/>
                </a:solidFill>
              </a:rPr>
              <a:t>First: </a:t>
            </a:r>
            <a:r>
              <a:rPr lang="en-US" u="sng" dirty="0">
                <a:solidFill>
                  <a:schemeClr val="accent4"/>
                </a:solidFill>
              </a:rPr>
              <a:t>Try Ejecting the drive, then press Reset button, then try saving file again</a:t>
            </a:r>
          </a:p>
          <a:p>
            <a:pPr lvl="1"/>
            <a:r>
              <a:rPr lang="en-US" dirty="0"/>
              <a:t>If that fails:</a:t>
            </a:r>
          </a:p>
          <a:p>
            <a:pPr lvl="2"/>
            <a:r>
              <a:rPr lang="en-US" dirty="0"/>
              <a:t>Filesystem may be corrupted!</a:t>
            </a:r>
          </a:p>
          <a:p>
            <a:pPr lvl="2"/>
            <a:r>
              <a:rPr lang="en-US" dirty="0"/>
              <a:t>Most likely source:</a:t>
            </a:r>
          </a:p>
          <a:p>
            <a:pPr lvl="3"/>
            <a:r>
              <a:rPr lang="en-US" b="1" dirty="0"/>
              <a:t>Board has been reset/disconnected while performing write operations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Before starting solution – save files from CIRCUITPY to </a:t>
            </a:r>
          </a:p>
          <a:p>
            <a:pPr marL="301752" lvl="1" indent="0">
              <a:buNone/>
            </a:pPr>
            <a:r>
              <a:rPr lang="en-US" dirty="0">
                <a:solidFill>
                  <a:srgbClr val="C00000"/>
                </a:solidFill>
              </a:rPr>
              <a:t>      host computer!!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Enter REPL</a:t>
            </a:r>
          </a:p>
          <a:p>
            <a:pPr lvl="1"/>
            <a:r>
              <a:rPr lang="en-US" dirty="0"/>
              <a:t>Type: </a:t>
            </a:r>
          </a:p>
          <a:p>
            <a:pPr marL="301752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storage</a:t>
            </a:r>
          </a:p>
          <a:p>
            <a:pPr marL="301752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storage.erase_filesystem()</a:t>
            </a:r>
          </a:p>
          <a:p>
            <a:pPr marL="301752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Then copy saved files back to D:\CIRCUITPY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6BE521-B055-D33A-BAA9-154D69037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09" y="2755233"/>
            <a:ext cx="638324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4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B2B9-8143-EF91-B9BA-2C0872B4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3BDA-865F-98F4-1FCD-31B9167F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7C7C7-EE1A-F6E6-284A-04A95F3054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My CIRCUITPY drive disappeared!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76CD4-B5AB-3925-9312-68E18382E8E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3768" y="1701210"/>
            <a:ext cx="11038333" cy="4984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If the user was previously successfully writing to D:\CIRCUITPY</a:t>
            </a:r>
          </a:p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But now the drive has disappeared:</a:t>
            </a:r>
          </a:p>
          <a:p>
            <a:pPr marL="0" indent="0">
              <a:buNone/>
            </a:pPr>
            <a:endParaRPr lang="en-US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Check you can access the CPYNANOBOOT drive</a:t>
            </a:r>
          </a:p>
          <a:p>
            <a:pPr marL="816221" lvl="1" indent="-51435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Double click the RESET button (near the USB connector)</a:t>
            </a:r>
          </a:p>
          <a:p>
            <a:pPr marL="1108829" lvl="2" indent="-514350"/>
            <a:r>
              <a:rPr lang="en-US">
                <a:cs typeface="Courier New" panose="02070309020205020404" pitchFamily="49" charset="0"/>
              </a:rPr>
              <a:t>You should see the Red LED fading in and out</a:t>
            </a:r>
          </a:p>
          <a:p>
            <a:pPr marL="1108829" lvl="2" indent="-514350"/>
            <a:r>
              <a:rPr lang="en-US">
                <a:cs typeface="Courier New" panose="02070309020205020404" pitchFamily="49" charset="0"/>
              </a:rPr>
              <a:t>In Windows Explorer you should see D:\CPYNANOBOOT</a:t>
            </a:r>
          </a:p>
          <a:p>
            <a:pPr marL="1383149" lvl="3" indent="-514350"/>
            <a:r>
              <a:rPr lang="en-US">
                <a:cs typeface="Courier New" panose="02070309020205020404" pitchFamily="49" charset="0"/>
              </a:rPr>
              <a:t>This means the board is likely OK!</a:t>
            </a:r>
          </a:p>
          <a:p>
            <a:endParaRPr lang="en-US" b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0">
                <a:cs typeface="Courier New" panose="02070309020205020404" pitchFamily="49" charset="0"/>
              </a:rPr>
              <a:t>(continued on next slide)</a:t>
            </a:r>
            <a:endParaRPr lang="en-US" b="0"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41057-3FEA-E34F-FF66-F1F5CCE3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467" y="3429001"/>
            <a:ext cx="5207388" cy="298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1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1BD1-35F8-FC2B-9F48-BD5739B0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C4180-5FCA-E0C8-84B8-46FAAF61E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CIRCUITPY drive disappeared!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825E3-46FD-FD7F-C791-C84F0DA835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4042" y="1408545"/>
            <a:ext cx="10662876" cy="535315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>
                <a:cs typeface="Courier New" panose="02070309020205020404" pitchFamily="49" charset="0"/>
              </a:rPr>
              <a:t>Enter </a:t>
            </a:r>
            <a:r>
              <a:rPr lang="en-US" i="1">
                <a:cs typeface="Courier New" panose="02070309020205020404" pitchFamily="49" charset="0"/>
              </a:rPr>
              <a:t>Safe Mode</a:t>
            </a:r>
            <a:r>
              <a:rPr lang="en-US"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Press RESET button on Curiosity CircuitPython board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Immediately you will see 4 Yellow flashes in one second</a:t>
            </a:r>
          </a:p>
          <a:p>
            <a:pPr lvl="2"/>
            <a:r>
              <a:rPr lang="en-US" u="sng">
                <a:cs typeface="Courier New" panose="02070309020205020404" pitchFamily="49" charset="0"/>
              </a:rPr>
              <a:t>During</a:t>
            </a:r>
            <a:r>
              <a:rPr lang="en-US">
                <a:cs typeface="Courier New" panose="02070309020205020404" pitchFamily="49" charset="0"/>
              </a:rPr>
              <a:t> this time press the RESET button again</a:t>
            </a:r>
          </a:p>
          <a:p>
            <a:pPr lvl="2"/>
            <a:r>
              <a:rPr lang="en-US">
                <a:cs typeface="Courier New" panose="02070309020205020404" pitchFamily="49" charset="0"/>
              </a:rPr>
              <a:t>You will then see 2 yellow flashes and the CIRCUITPY drive will appear!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>
                <a:cs typeface="Courier New" panose="02070309020205020404" pitchFamily="49" charset="0"/>
              </a:rPr>
              <a:t>Now you can enter the REPL and erase the filesystem </a:t>
            </a:r>
          </a:p>
          <a:p>
            <a:pPr lvl="1"/>
            <a:r>
              <a:rPr lang="en-US"/>
              <a:t>Enter REPL, then at prompt   &gt;&gt;&gt;</a:t>
            </a:r>
          </a:p>
          <a:p>
            <a:pPr lvl="1"/>
            <a:r>
              <a:rPr lang="en-US"/>
              <a:t>Type: </a:t>
            </a:r>
          </a:p>
          <a:p>
            <a:pPr marL="301752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import storage</a:t>
            </a:r>
          </a:p>
          <a:p>
            <a:pPr marL="301752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storage.erase_filesystem()</a:t>
            </a:r>
          </a:p>
          <a:p>
            <a:pPr marL="301752" lvl="1" indent="0">
              <a:buNone/>
            </a:pP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1752" lvl="1" indent="0">
              <a:buNone/>
            </a:pP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CIRCUITPY drive should reappear!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97038-0D02-7EC8-E3D1-853B25F13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357" y="3435239"/>
            <a:ext cx="5217499" cy="298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6E46-0E9A-B64E-0DC6-2D956989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9340-E205-3FDF-4D08-93A0B5D2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Eject The CIRCUITPY Drive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74B60-BD68-402B-0E28-E88DC57DF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/>
              <a:t>Always Eject </a:t>
            </a:r>
            <a:r>
              <a:rPr lang="en-US"/>
              <a:t>before disconnecting cable or pressing reset button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6C5583B-3003-BBA6-F603-5E5A16F03BF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4042" y="1609225"/>
            <a:ext cx="8366245" cy="5450794"/>
          </a:xfrm>
        </p:spPr>
        <p:txBody>
          <a:bodyPr>
            <a:normAutofit/>
          </a:bodyPr>
          <a:lstStyle/>
          <a:p>
            <a:r>
              <a:rPr lang="en-US" u="sng"/>
              <a:t>Before</a:t>
            </a:r>
            <a:r>
              <a:rPr lang="en-US"/>
              <a:t> Ejecting D:\CIRCUITPY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Close VS Code first!</a:t>
            </a:r>
          </a:p>
          <a:p>
            <a:pPr lvl="1"/>
            <a:endParaRPr lang="en-US"/>
          </a:p>
          <a:p>
            <a:r>
              <a:rPr lang="en-US"/>
              <a:t>Failure to close VS Code will give this popup: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</a:t>
            </a:r>
            <a:r>
              <a:rPr lang="en-US" i="1"/>
              <a:t>Cancel</a:t>
            </a:r>
            <a:r>
              <a:rPr lang="en-US"/>
              <a:t>, then close VS Code </a:t>
            </a:r>
          </a:p>
        </p:txBody>
      </p:sp>
      <p:pic>
        <p:nvPicPr>
          <p:cNvPr id="16" name="Picture 15" descr="A screenshot of a computer error message  AI-generated content may be incorrect.">
            <a:extLst>
              <a:ext uri="{FF2B5EF4-FFF2-40B4-BE49-F238E27FC236}">
                <a16:creationId xmlns:a16="http://schemas.microsoft.com/office/drawing/2014/main" id="{00D83438-9784-86F8-3653-D395AFF6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098" y="3805031"/>
            <a:ext cx="5343525" cy="15430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9295CF-EA59-F1EA-EDDE-F2F50E78F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01" y="2755233"/>
            <a:ext cx="638324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7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61CC5-22DA-9223-006B-62BBFD77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C2E9-DC72-709C-0C64-D4F04A2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Eject The CIRCUITPY Drive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555A0-B228-2E8C-BFF7-2A05A288F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/>
              <a:t>Always Eject </a:t>
            </a:r>
            <a:r>
              <a:rPr lang="en-US"/>
              <a:t>before disconnecting cable or pressing reset button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52B1B-225E-7975-AFD2-7966C69246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90" y="1408545"/>
            <a:ext cx="11956647" cy="5271954"/>
          </a:xfrm>
        </p:spPr>
        <p:txBody>
          <a:bodyPr>
            <a:normAutofit/>
          </a:bodyPr>
          <a:lstStyle/>
          <a:p>
            <a:r>
              <a:rPr lang="en-US" b="0"/>
              <a:t>Click</a:t>
            </a:r>
            <a:r>
              <a:rPr lang="en-US"/>
              <a:t> </a:t>
            </a:r>
            <a:r>
              <a:rPr lang="en-US" i="1"/>
              <a:t>Safely Remove Hardware and Eject Media </a:t>
            </a:r>
            <a:r>
              <a:rPr lang="en-US" b="0"/>
              <a:t>button</a:t>
            </a:r>
          </a:p>
          <a:p>
            <a:pPr lvl="1"/>
            <a:r>
              <a:rPr lang="en-US"/>
              <a:t>Bottom right corner of Windows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Click </a:t>
            </a:r>
            <a:r>
              <a:rPr lang="en-US" b="1" i="1"/>
              <a:t>Eject CIRCUITPY (D:)</a:t>
            </a:r>
            <a:r>
              <a:rPr lang="en-US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3E5D0-5D94-C541-AB36-FC18BA40F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28" y="2485900"/>
            <a:ext cx="3400900" cy="1448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0742E7-EEEE-3E62-3530-220C84513B75}"/>
              </a:ext>
            </a:extLst>
          </p:cNvPr>
          <p:cNvSpPr/>
          <p:nvPr/>
        </p:nvSpPr>
        <p:spPr>
          <a:xfrm>
            <a:off x="2362017" y="2945220"/>
            <a:ext cx="435935" cy="382772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E5C971-FB99-3FB8-1EA1-C15CC2943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28" y="4893523"/>
            <a:ext cx="3467584" cy="1600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636C60-7D5E-D0E5-53A1-A62597F43C95}"/>
              </a:ext>
            </a:extLst>
          </p:cNvPr>
          <p:cNvSpPr/>
          <p:nvPr/>
        </p:nvSpPr>
        <p:spPr>
          <a:xfrm>
            <a:off x="1610650" y="5250709"/>
            <a:ext cx="2555579" cy="46960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0E6127-A2EB-471C-D150-4744D4BBD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233" y="5079285"/>
            <a:ext cx="3458058" cy="122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88D50949-2F4B-8BAE-C12F-07B17B1715C1}"/>
              </a:ext>
            </a:extLst>
          </p:cNvPr>
          <p:cNvSpPr/>
          <p:nvPr/>
        </p:nvSpPr>
        <p:spPr>
          <a:xfrm>
            <a:off x="4326367" y="5539118"/>
            <a:ext cx="670285" cy="36239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CF6791-48F4-960F-AB23-424111BD7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708" y="2015608"/>
            <a:ext cx="5383667" cy="308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512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603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Courier New</vt:lpstr>
      <vt:lpstr>1_Office Theme</vt:lpstr>
      <vt:lpstr>Academic Program Workshop: Microchip PyKit Explorer Troubleshooting</vt:lpstr>
      <vt:lpstr>Troubleshooting!</vt:lpstr>
      <vt:lpstr>Troubleshooting!</vt:lpstr>
      <vt:lpstr>Troubleshooting!</vt:lpstr>
      <vt:lpstr>How To Eject The CIRCUITPY Drive</vt:lpstr>
      <vt:lpstr>How To Eject The CIRCUITPY Drive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Satchell - C52467</dc:creator>
  <cp:lastModifiedBy>Ross Satchell - C52467</cp:lastModifiedBy>
  <cp:revision>1</cp:revision>
  <dcterms:created xsi:type="dcterms:W3CDTF">2026-08-24T19:35:50Z</dcterms:created>
  <dcterms:modified xsi:type="dcterms:W3CDTF">2026-08-24T19:50:29Z</dcterms:modified>
</cp:coreProperties>
</file>